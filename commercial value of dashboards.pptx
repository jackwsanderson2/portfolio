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56" r:id="rId4"/>
    <p:sldId id="257" r:id="rId5"/>
    <p:sldId id="261" r:id="rId6"/>
    <p:sldId id="260" r:id="rId7"/>
    <p:sldId id="263" r:id="rId8"/>
    <p:sldId id="259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3878D-22F7-ADBF-EB9F-A667D4CD3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25EF8-BB87-D3ED-7041-BD142D5DB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12663-DEC4-8E10-A891-B815BC46C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8205-D607-4EE2-9761-D95760C5E62D}" type="datetimeFigureOut">
              <a:rPr lang="en-GB" smtClean="0"/>
              <a:t>12/12/2024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36921-CA8E-0D53-D2BB-46B9F2036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26406-B9DC-BB80-F953-17BC993FD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31CF-9FCB-4C54-A196-5066402569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4553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0A0EB-0445-97EF-C7D6-F0C613052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CA025-E839-30E3-BC23-D6DF2834B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2A84D-B16D-262B-F8D2-C24E96DFE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8205-D607-4EE2-9761-D95760C5E62D}" type="datetimeFigureOut">
              <a:rPr lang="en-GB" smtClean="0"/>
              <a:t>12/12/2024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220CE-CD8A-7A49-009A-E037F4601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E53D8-D3D1-46DD-7A59-4DA898F3E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31CF-9FCB-4C54-A196-5066402569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624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FAFF4-5F03-2646-72F6-2DDBD0F4C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0900A-BDCE-CA79-F2BD-7F75A8971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5E667-BAA0-B9B5-E699-1063440EF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8205-D607-4EE2-9761-D95760C5E62D}" type="datetimeFigureOut">
              <a:rPr lang="en-GB" smtClean="0"/>
              <a:t>12/12/2024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0696B-144E-7E15-E6CD-586F82600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0CCE8-0AC8-69FD-7AF5-FF0DD1045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31CF-9FCB-4C54-A196-5066402569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016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9C7A1-6BFF-7329-9CD4-40BA1A4D3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F059A-AF27-206A-16A1-7FBEF624F3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0BF23-3CB8-FCAE-99A0-818399E62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0FBC4-EDE0-A997-54A6-ED3E923F1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8205-D607-4EE2-9761-D95760C5E62D}" type="datetimeFigureOut">
              <a:rPr lang="en-GB" smtClean="0"/>
              <a:t>12/12/2024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844D9-EB12-5B92-403A-B074E6DE7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B96B8-52F1-D5D2-8F6F-8E9A84F60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31CF-9FCB-4C54-A196-5066402569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971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D9982-C5F2-49D3-2A90-53115BD36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35B90-B8A3-EAEB-ACE5-CF6CCAA8B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A7FBC-5538-E246-7905-30A41FC5C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ED67CA-8E16-12BC-BD01-AB47EA05A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3E4A6E-9123-9B12-DB73-AD5E08DBD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91F1A1-D798-CACC-43B8-6E66AA7F3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8205-D607-4EE2-9761-D95760C5E62D}" type="datetimeFigureOut">
              <a:rPr lang="en-GB" smtClean="0"/>
              <a:t>12/12/2024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C3EC90-A913-5441-1E5C-DC57C0726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86B93B-EC32-3615-1760-71AA9973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31CF-9FCB-4C54-A196-5066402569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196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CE127-E256-28E1-8753-18E7EA78D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171A8A-692B-89ED-40D5-6E4EE52D3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8205-D607-4EE2-9761-D95760C5E62D}" type="datetimeFigureOut">
              <a:rPr lang="en-GB" smtClean="0"/>
              <a:t>12/12/2024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D2CCE-300C-438E-F80A-258EDC37C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6D7353-F7B2-4E0A-0892-2300325CA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31CF-9FCB-4C54-A196-5066402569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8027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BA2890-4B51-F150-4D8E-E4743B05E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8205-D607-4EE2-9761-D95760C5E62D}" type="datetimeFigureOut">
              <a:rPr lang="en-GB" smtClean="0"/>
              <a:t>12/12/2024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8142B5-7F69-1F9F-6C8E-99312F0D7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B070D-716D-EEF7-0187-44357227F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31CF-9FCB-4C54-A196-5066402569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466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FBC57-9447-7CE1-CA6F-5B348080A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95B9F-68FB-DB7B-493A-7CA9D5122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AFF84-EB6C-0B45-591A-AA652B2AE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4366B-F7CC-7A01-DCB2-5390D2C22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8205-D607-4EE2-9761-D95760C5E62D}" type="datetimeFigureOut">
              <a:rPr lang="en-GB" smtClean="0"/>
              <a:t>12/12/2024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EE4C7-8F19-9F4C-04F8-2F57F6022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C3A3B-1E0B-09BA-BA35-4354BE8FF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31CF-9FCB-4C54-A196-5066402569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9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2EE6-2D69-A871-7C3E-58D3764CE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D97AB0-0AE9-0085-E891-F5CF083EF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EDE22-1854-1CCD-D5F8-EA7E5DD4A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43860-C773-724B-8AA2-E5B945C25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8205-D607-4EE2-9761-D95760C5E62D}" type="datetimeFigureOut">
              <a:rPr lang="en-GB" smtClean="0"/>
              <a:t>12/12/2024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73464-6D84-485D-0093-270ED3DCB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53646-914D-2075-FE8F-AB3B71E5B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31CF-9FCB-4C54-A196-5066402569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9481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5A670-4647-562B-8D57-D6E78E76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CAA05-07E5-2324-E8B1-FC7788E98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6681E-33B2-A125-69DA-F4A767DF6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8205-D607-4EE2-9761-D95760C5E62D}" type="datetimeFigureOut">
              <a:rPr lang="en-GB" smtClean="0"/>
              <a:t>12/12/2024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9DBA7-C3FA-0D5C-1B55-9A6875B04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FD5A7-A32E-89A4-F4B1-5F9408D7E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31CF-9FCB-4C54-A196-5066402569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254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B1D710-F976-2176-75C7-34E099B5E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9048C9-6EC6-47E4-0DE3-4BDB43A1A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5C6BF-3C00-AEF9-DF6B-BF40E9DE0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8205-D607-4EE2-9761-D95760C5E62D}" type="datetimeFigureOut">
              <a:rPr lang="en-GB" smtClean="0"/>
              <a:t>12/12/2024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6C6E0-B171-541F-9AF3-CBFAC8A4D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5E254-9F90-193D-7006-15A5422D0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31CF-9FCB-4C54-A196-5066402569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7805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F9F678-EA80-3F28-4584-79BA1E161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7D16A-4FF1-A4BF-1AA7-184E9AD38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1A033-FCF4-FCF9-F8BD-3AC3A611E8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C8205-D607-4EE2-9761-D95760C5E62D}" type="datetimeFigureOut">
              <a:rPr lang="en-GB" smtClean="0"/>
              <a:t>12/12/2024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CB171-32CC-DCB9-AE29-3956CC7BEF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54748-159A-7165-DBDB-672C1BF51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631CF-9FCB-4C54-A196-5066402569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434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2077E-9555-72D3-E49C-9DBAC9645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Commercial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352A8-3DE0-DBB4-3454-E3B74B42E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Price</a:t>
            </a:r>
          </a:p>
          <a:p>
            <a:pPr lvl="1"/>
            <a:r>
              <a:rPr lang="en-GB" dirty="0"/>
              <a:t>The amount of money expected, required, or given in payment for something.</a:t>
            </a:r>
          </a:p>
          <a:p>
            <a:pPr lvl="1"/>
            <a:r>
              <a:rPr lang="en-GB" dirty="0"/>
              <a:t>Amount customer pays for a product.</a:t>
            </a:r>
          </a:p>
          <a:p>
            <a:pPr marL="0" indent="0">
              <a:buNone/>
            </a:pPr>
            <a:r>
              <a:rPr lang="en-GB" dirty="0"/>
              <a:t>Cost</a:t>
            </a:r>
          </a:p>
          <a:p>
            <a:pPr lvl="1"/>
            <a:r>
              <a:rPr lang="en-GB" dirty="0"/>
              <a:t>Require the payment of before it can be acquired or done.</a:t>
            </a:r>
          </a:p>
          <a:p>
            <a:pPr lvl="1"/>
            <a:r>
              <a:rPr lang="en-GB" dirty="0"/>
              <a:t>Amount business pays to get a product to a customer.</a:t>
            </a:r>
          </a:p>
          <a:p>
            <a:pPr lvl="1"/>
            <a:r>
              <a:rPr lang="en-GB" dirty="0"/>
              <a:t>Includes, raw material costs, manufacturing costs, transportation, taxes, admin and overheads.</a:t>
            </a:r>
          </a:p>
          <a:p>
            <a:pPr marL="0" indent="0">
              <a:buNone/>
            </a:pPr>
            <a:r>
              <a:rPr lang="en-GB" dirty="0"/>
              <a:t>Value</a:t>
            </a:r>
          </a:p>
          <a:p>
            <a:pPr lvl="1"/>
            <a:r>
              <a:rPr lang="en-GB" dirty="0"/>
              <a:t>The monetary, material, or assessed worth of an asset, good, or service.</a:t>
            </a:r>
          </a:p>
          <a:p>
            <a:pPr lvl="1"/>
            <a:r>
              <a:rPr lang="en-GB" dirty="0"/>
              <a:t>Value is </a:t>
            </a:r>
            <a:r>
              <a:rPr lang="en-GB" b="1" u="sng" dirty="0"/>
              <a:t>intangible</a:t>
            </a:r>
            <a:r>
              <a:rPr lang="en-GB" dirty="0"/>
              <a:t> varying from person to person</a:t>
            </a:r>
          </a:p>
        </p:txBody>
      </p:sp>
    </p:spTree>
    <p:extLst>
      <p:ext uri="{BB962C8B-B14F-4D97-AF65-F5344CB8AC3E}">
        <p14:creationId xmlns:p14="http://schemas.microsoft.com/office/powerpoint/2010/main" val="50461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38DCE-7791-B310-64B2-DA88B4C19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028FE-014D-532F-02FB-25024FB92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 customer</a:t>
            </a:r>
          </a:p>
          <a:p>
            <a:pPr lvl="1"/>
            <a:r>
              <a:rPr lang="en-GB" dirty="0"/>
              <a:t>If perceived Value &gt; Price, then the customer is willing to buy</a:t>
            </a:r>
          </a:p>
          <a:p>
            <a:pPr lvl="2"/>
            <a:r>
              <a:rPr lang="en-GB" dirty="0"/>
              <a:t>For a lunch, value of not being hungry &gt; £3.99</a:t>
            </a:r>
          </a:p>
          <a:p>
            <a:pPr lvl="2"/>
            <a:r>
              <a:rPr lang="en-GB" dirty="0"/>
              <a:t>Coffee</a:t>
            </a:r>
          </a:p>
          <a:p>
            <a:pPr lvl="2"/>
            <a:r>
              <a:rPr lang="en-GB" dirty="0"/>
              <a:t>Mobile Phone</a:t>
            </a:r>
          </a:p>
          <a:p>
            <a:pPr lvl="2"/>
            <a:r>
              <a:rPr lang="en-GB" dirty="0"/>
              <a:t>Link to Price Elastically </a:t>
            </a:r>
          </a:p>
          <a:p>
            <a:endParaRPr lang="en-GB" dirty="0"/>
          </a:p>
          <a:p>
            <a:r>
              <a:rPr lang="en-GB" dirty="0"/>
              <a:t>For business</a:t>
            </a:r>
          </a:p>
          <a:p>
            <a:pPr lvl="1"/>
            <a:r>
              <a:rPr lang="en-GB" dirty="0"/>
              <a:t>If Price &gt; Costs, then the business makes a profit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7934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CFF881-21AE-98B1-AA8C-D38772516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Commercial Value of Projects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10E320-EF05-01EF-A8CD-444193A57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14608"/>
          </a:xfrm>
        </p:spPr>
        <p:txBody>
          <a:bodyPr/>
          <a:lstStyle/>
          <a:p>
            <a:r>
              <a:rPr lang="en-GB" dirty="0"/>
              <a:t>How many projects can you create in a year?</a:t>
            </a:r>
          </a:p>
          <a:p>
            <a:pPr lvl="1"/>
            <a:r>
              <a:rPr lang="en-GB" dirty="0"/>
              <a:t>Approach 1 – Near-Perfect Projects</a:t>
            </a:r>
          </a:p>
          <a:p>
            <a:pPr lvl="1"/>
            <a:r>
              <a:rPr lang="en-GB" dirty="0"/>
              <a:t>Approach 2 – Rushed Projects</a:t>
            </a:r>
          </a:p>
          <a:p>
            <a:pPr lvl="1"/>
            <a:r>
              <a:rPr lang="en-GB" dirty="0"/>
              <a:t>Approach 3 – Decent Projects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5E81352-A019-6734-AD9D-73B030767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075575"/>
              </p:ext>
            </p:extLst>
          </p:nvPr>
        </p:nvGraphicFramePr>
        <p:xfrm>
          <a:off x="874914" y="3940233"/>
          <a:ext cx="10478888" cy="23448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19722">
                  <a:extLst>
                    <a:ext uri="{9D8B030D-6E8A-4147-A177-3AD203B41FA5}">
                      <a16:colId xmlns:a16="http://schemas.microsoft.com/office/drawing/2014/main" val="1361186734"/>
                    </a:ext>
                  </a:extLst>
                </a:gridCol>
                <a:gridCol w="2619722">
                  <a:extLst>
                    <a:ext uri="{9D8B030D-6E8A-4147-A177-3AD203B41FA5}">
                      <a16:colId xmlns:a16="http://schemas.microsoft.com/office/drawing/2014/main" val="1194969470"/>
                    </a:ext>
                  </a:extLst>
                </a:gridCol>
                <a:gridCol w="2619722">
                  <a:extLst>
                    <a:ext uri="{9D8B030D-6E8A-4147-A177-3AD203B41FA5}">
                      <a16:colId xmlns:a16="http://schemas.microsoft.com/office/drawing/2014/main" val="4293188702"/>
                    </a:ext>
                  </a:extLst>
                </a:gridCol>
                <a:gridCol w="2619722">
                  <a:extLst>
                    <a:ext uri="{9D8B030D-6E8A-4147-A177-3AD203B41FA5}">
                      <a16:colId xmlns:a16="http://schemas.microsoft.com/office/drawing/2014/main" val="3608424251"/>
                    </a:ext>
                  </a:extLst>
                </a:gridCol>
              </a:tblGrid>
              <a:tr h="468965">
                <a:tc>
                  <a:txBody>
                    <a:bodyPr/>
                    <a:lstStyle/>
                    <a:p>
                      <a:endParaRPr lang="en-GB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Approach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Approach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Approach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620638"/>
                  </a:ext>
                </a:extLst>
              </a:tr>
              <a:tr h="468965">
                <a:tc>
                  <a:txBody>
                    <a:bodyPr/>
                    <a:lstStyle/>
                    <a:p>
                      <a:r>
                        <a:rPr lang="en-GB" sz="2000" b="1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461237"/>
                  </a:ext>
                </a:extLst>
              </a:tr>
              <a:tr h="468965">
                <a:tc>
                  <a:txBody>
                    <a:bodyPr/>
                    <a:lstStyle/>
                    <a:p>
                      <a:r>
                        <a:rPr lang="en-GB" sz="2000" b="1" dirty="0"/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801994"/>
                  </a:ext>
                </a:extLst>
              </a:tr>
              <a:tr h="468965">
                <a:tc>
                  <a:txBody>
                    <a:bodyPr/>
                    <a:lstStyle/>
                    <a:p>
                      <a:r>
                        <a:rPr lang="en-GB" sz="2000" b="1" dirty="0"/>
                        <a:t>Value Per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£10k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rgbClr val="FF0000"/>
                          </a:solidFill>
                        </a:rPr>
                        <a:t>£-2k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£8k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653300"/>
                  </a:ext>
                </a:extLst>
              </a:tr>
              <a:tr h="468965">
                <a:tc>
                  <a:txBody>
                    <a:bodyPr/>
                    <a:lstStyle/>
                    <a:p>
                      <a:r>
                        <a:rPr lang="en-GB" sz="2000" b="1" dirty="0"/>
                        <a:t>Total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£50k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FF0000"/>
                          </a:solidFill>
                        </a:rPr>
                        <a:t>£-40k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£80k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661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30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9E874-EE45-299F-85CC-99481FD00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 all projects have the same value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6360889-9203-A76F-1B47-A7E21B2C4534}"/>
              </a:ext>
            </a:extLst>
          </p:cNvPr>
          <p:cNvSpPr/>
          <p:nvPr/>
        </p:nvSpPr>
        <p:spPr>
          <a:xfrm>
            <a:off x="838200" y="2016165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48F98F9-5F3B-3634-D95A-72B90EA71625}"/>
              </a:ext>
            </a:extLst>
          </p:cNvPr>
          <p:cNvSpPr/>
          <p:nvPr/>
        </p:nvSpPr>
        <p:spPr>
          <a:xfrm>
            <a:off x="2771602" y="2016165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2D93646-E3E2-C6DB-3B43-B9CB16DDFEA7}"/>
              </a:ext>
            </a:extLst>
          </p:cNvPr>
          <p:cNvSpPr/>
          <p:nvPr/>
        </p:nvSpPr>
        <p:spPr>
          <a:xfrm>
            <a:off x="4705004" y="2016165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540E6B-DDB7-FE63-EA57-7DB6C8CE218B}"/>
              </a:ext>
            </a:extLst>
          </p:cNvPr>
          <p:cNvSpPr/>
          <p:nvPr/>
        </p:nvSpPr>
        <p:spPr>
          <a:xfrm>
            <a:off x="6638406" y="2016165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B78C32-8004-701F-0CD5-2580D1EC0A46}"/>
              </a:ext>
            </a:extLst>
          </p:cNvPr>
          <p:cNvSpPr/>
          <p:nvPr/>
        </p:nvSpPr>
        <p:spPr>
          <a:xfrm>
            <a:off x="8571807" y="2016165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562D64A-37CB-17ED-B20D-294AB5604CF6}"/>
              </a:ext>
            </a:extLst>
          </p:cNvPr>
          <p:cNvSpPr/>
          <p:nvPr/>
        </p:nvSpPr>
        <p:spPr>
          <a:xfrm>
            <a:off x="838200" y="3487191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6</a:t>
            </a:r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8EF8BB82-CE6E-3C3E-D0F9-D73313051ECE}"/>
              </a:ext>
            </a:extLst>
          </p:cNvPr>
          <p:cNvSpPr/>
          <p:nvPr/>
        </p:nvSpPr>
        <p:spPr>
          <a:xfrm>
            <a:off x="2771602" y="3487191"/>
            <a:ext cx="1080000" cy="1080000"/>
          </a:xfrm>
          <a:prstGeom prst="star5">
            <a:avLst>
              <a:gd name="adj" fmla="val 29541"/>
              <a:gd name="hf" fmla="val 105146"/>
              <a:gd name="vf" fmla="val 11055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E1DABEA-C92F-3B5F-BCBD-E341C2A05776}"/>
              </a:ext>
            </a:extLst>
          </p:cNvPr>
          <p:cNvSpPr/>
          <p:nvPr/>
        </p:nvSpPr>
        <p:spPr>
          <a:xfrm>
            <a:off x="4705004" y="3487191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B52B38C-6964-E5B5-89E2-F6BFC536BEFB}"/>
              </a:ext>
            </a:extLst>
          </p:cNvPr>
          <p:cNvSpPr/>
          <p:nvPr/>
        </p:nvSpPr>
        <p:spPr>
          <a:xfrm>
            <a:off x="6638406" y="3487191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DC35EDB-0980-8991-D500-1371C9A2B50C}"/>
              </a:ext>
            </a:extLst>
          </p:cNvPr>
          <p:cNvSpPr/>
          <p:nvPr/>
        </p:nvSpPr>
        <p:spPr>
          <a:xfrm>
            <a:off x="8571807" y="3487191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084DF1-1468-2CD4-AE94-6122B37BF89A}"/>
              </a:ext>
            </a:extLst>
          </p:cNvPr>
          <p:cNvSpPr txBox="1"/>
          <p:nvPr/>
        </p:nvSpPr>
        <p:spPr>
          <a:xfrm>
            <a:off x="838200" y="5960225"/>
            <a:ext cx="5800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Idea 7 is the hero idea which will have a big impact.</a:t>
            </a:r>
          </a:p>
          <a:p>
            <a:r>
              <a:rPr lang="en-GB" dirty="0"/>
              <a:t>Rest are duds in this example.</a:t>
            </a:r>
          </a:p>
        </p:txBody>
      </p:sp>
    </p:spTree>
    <p:extLst>
      <p:ext uri="{BB962C8B-B14F-4D97-AF65-F5344CB8AC3E}">
        <p14:creationId xmlns:p14="http://schemas.microsoft.com/office/powerpoint/2010/main" val="4186028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9E874-EE45-299F-85CC-99481FD00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 1 – Near Perfect Projects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6360889-9203-A76F-1B47-A7E21B2C4534}"/>
              </a:ext>
            </a:extLst>
          </p:cNvPr>
          <p:cNvSpPr/>
          <p:nvPr/>
        </p:nvSpPr>
        <p:spPr>
          <a:xfrm>
            <a:off x="838200" y="2016165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48F98F9-5F3B-3634-D95A-72B90EA71625}"/>
              </a:ext>
            </a:extLst>
          </p:cNvPr>
          <p:cNvSpPr/>
          <p:nvPr/>
        </p:nvSpPr>
        <p:spPr>
          <a:xfrm>
            <a:off x="2771602" y="2016165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2D93646-E3E2-C6DB-3B43-B9CB16DDFEA7}"/>
              </a:ext>
            </a:extLst>
          </p:cNvPr>
          <p:cNvSpPr/>
          <p:nvPr/>
        </p:nvSpPr>
        <p:spPr>
          <a:xfrm>
            <a:off x="4705004" y="2016165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540E6B-DDB7-FE63-EA57-7DB6C8CE218B}"/>
              </a:ext>
            </a:extLst>
          </p:cNvPr>
          <p:cNvSpPr/>
          <p:nvPr/>
        </p:nvSpPr>
        <p:spPr>
          <a:xfrm>
            <a:off x="6638406" y="2016165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B78C32-8004-701F-0CD5-2580D1EC0A46}"/>
              </a:ext>
            </a:extLst>
          </p:cNvPr>
          <p:cNvSpPr/>
          <p:nvPr/>
        </p:nvSpPr>
        <p:spPr>
          <a:xfrm>
            <a:off x="8571807" y="2016165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562D64A-37CB-17ED-B20D-294AB5604CF6}"/>
              </a:ext>
            </a:extLst>
          </p:cNvPr>
          <p:cNvSpPr/>
          <p:nvPr/>
        </p:nvSpPr>
        <p:spPr>
          <a:xfrm>
            <a:off x="838200" y="3487191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6</a:t>
            </a:r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8EF8BB82-CE6E-3C3E-D0F9-D73313051ECE}"/>
              </a:ext>
            </a:extLst>
          </p:cNvPr>
          <p:cNvSpPr/>
          <p:nvPr/>
        </p:nvSpPr>
        <p:spPr>
          <a:xfrm>
            <a:off x="2771602" y="3487191"/>
            <a:ext cx="1080000" cy="1080000"/>
          </a:xfrm>
          <a:prstGeom prst="star5">
            <a:avLst>
              <a:gd name="adj" fmla="val 29541"/>
              <a:gd name="hf" fmla="val 105146"/>
              <a:gd name="vf" fmla="val 11055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E1DABEA-C92F-3B5F-BCBD-E341C2A05776}"/>
              </a:ext>
            </a:extLst>
          </p:cNvPr>
          <p:cNvSpPr/>
          <p:nvPr/>
        </p:nvSpPr>
        <p:spPr>
          <a:xfrm>
            <a:off x="4705004" y="3487191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B52B38C-6964-E5B5-89E2-F6BFC536BEFB}"/>
              </a:ext>
            </a:extLst>
          </p:cNvPr>
          <p:cNvSpPr/>
          <p:nvPr/>
        </p:nvSpPr>
        <p:spPr>
          <a:xfrm>
            <a:off x="6638406" y="3487191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DC35EDB-0980-8991-D500-1371C9A2B50C}"/>
              </a:ext>
            </a:extLst>
          </p:cNvPr>
          <p:cNvSpPr/>
          <p:nvPr/>
        </p:nvSpPr>
        <p:spPr>
          <a:xfrm>
            <a:off x="8571807" y="3487191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13FBBF-E586-AB66-30D4-F5A6DFE54C53}"/>
              </a:ext>
            </a:extLst>
          </p:cNvPr>
          <p:cNvSpPr/>
          <p:nvPr/>
        </p:nvSpPr>
        <p:spPr>
          <a:xfrm>
            <a:off x="10008524" y="1943265"/>
            <a:ext cx="207818" cy="1225799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B9A50-AD43-9A92-17F3-A85F021C2524}"/>
              </a:ext>
            </a:extLst>
          </p:cNvPr>
          <p:cNvSpPr txBox="1"/>
          <p:nvPr/>
        </p:nvSpPr>
        <p:spPr>
          <a:xfrm>
            <a:off x="838200" y="5960225"/>
            <a:ext cx="4946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Idea 7 isn’t reached so value cannot be realised</a:t>
            </a:r>
          </a:p>
        </p:txBody>
      </p:sp>
    </p:spTree>
    <p:extLst>
      <p:ext uri="{BB962C8B-B14F-4D97-AF65-F5344CB8AC3E}">
        <p14:creationId xmlns:p14="http://schemas.microsoft.com/office/powerpoint/2010/main" val="4206344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9E874-EE45-299F-85CC-99481FD00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 2 – Rushed Projects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6360889-9203-A76F-1B47-A7E21B2C4534}"/>
              </a:ext>
            </a:extLst>
          </p:cNvPr>
          <p:cNvSpPr/>
          <p:nvPr/>
        </p:nvSpPr>
        <p:spPr>
          <a:xfrm>
            <a:off x="838200" y="2016165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48F98F9-5F3B-3634-D95A-72B90EA71625}"/>
              </a:ext>
            </a:extLst>
          </p:cNvPr>
          <p:cNvSpPr/>
          <p:nvPr/>
        </p:nvSpPr>
        <p:spPr>
          <a:xfrm>
            <a:off x="2771602" y="2016165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2D93646-E3E2-C6DB-3B43-B9CB16DDFEA7}"/>
              </a:ext>
            </a:extLst>
          </p:cNvPr>
          <p:cNvSpPr/>
          <p:nvPr/>
        </p:nvSpPr>
        <p:spPr>
          <a:xfrm>
            <a:off x="4705004" y="2016165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540E6B-DDB7-FE63-EA57-7DB6C8CE218B}"/>
              </a:ext>
            </a:extLst>
          </p:cNvPr>
          <p:cNvSpPr/>
          <p:nvPr/>
        </p:nvSpPr>
        <p:spPr>
          <a:xfrm>
            <a:off x="6638406" y="2016165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B78C32-8004-701F-0CD5-2580D1EC0A46}"/>
              </a:ext>
            </a:extLst>
          </p:cNvPr>
          <p:cNvSpPr/>
          <p:nvPr/>
        </p:nvSpPr>
        <p:spPr>
          <a:xfrm>
            <a:off x="8571807" y="2016165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562D64A-37CB-17ED-B20D-294AB5604CF6}"/>
              </a:ext>
            </a:extLst>
          </p:cNvPr>
          <p:cNvSpPr/>
          <p:nvPr/>
        </p:nvSpPr>
        <p:spPr>
          <a:xfrm>
            <a:off x="838200" y="3487191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6</a:t>
            </a:r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8EF8BB82-CE6E-3C3E-D0F9-D73313051ECE}"/>
              </a:ext>
            </a:extLst>
          </p:cNvPr>
          <p:cNvSpPr/>
          <p:nvPr/>
        </p:nvSpPr>
        <p:spPr>
          <a:xfrm>
            <a:off x="2771602" y="3487191"/>
            <a:ext cx="1080000" cy="1080000"/>
          </a:xfrm>
          <a:prstGeom prst="star5">
            <a:avLst>
              <a:gd name="adj" fmla="val 29541"/>
              <a:gd name="hf" fmla="val 105146"/>
              <a:gd name="vf" fmla="val 11055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E1DABEA-C92F-3B5F-BCBD-E341C2A05776}"/>
              </a:ext>
            </a:extLst>
          </p:cNvPr>
          <p:cNvSpPr/>
          <p:nvPr/>
        </p:nvSpPr>
        <p:spPr>
          <a:xfrm>
            <a:off x="4705004" y="3487191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B52B38C-6964-E5B5-89E2-F6BFC536BEFB}"/>
              </a:ext>
            </a:extLst>
          </p:cNvPr>
          <p:cNvSpPr/>
          <p:nvPr/>
        </p:nvSpPr>
        <p:spPr>
          <a:xfrm>
            <a:off x="6638406" y="3487191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DC35EDB-0980-8991-D500-1371C9A2B50C}"/>
              </a:ext>
            </a:extLst>
          </p:cNvPr>
          <p:cNvSpPr/>
          <p:nvPr/>
        </p:nvSpPr>
        <p:spPr>
          <a:xfrm>
            <a:off x="8571807" y="3487191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B4128-7944-8743-69E2-21E2FCA6DD7E}"/>
              </a:ext>
            </a:extLst>
          </p:cNvPr>
          <p:cNvSpPr txBox="1"/>
          <p:nvPr/>
        </p:nvSpPr>
        <p:spPr>
          <a:xfrm>
            <a:off x="838200" y="5846544"/>
            <a:ext cx="88136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Idea 7 is reached but is rushed. </a:t>
            </a:r>
          </a:p>
          <a:p>
            <a:r>
              <a:rPr lang="en-GB" dirty="0"/>
              <a:t>Stakeholders don’t have confidence in outputs and value is not realised. </a:t>
            </a:r>
          </a:p>
          <a:p>
            <a:r>
              <a:rPr lang="en-GB" dirty="0"/>
              <a:t>Projects have negative value.</a:t>
            </a:r>
          </a:p>
        </p:txBody>
      </p:sp>
      <p:pic>
        <p:nvPicPr>
          <p:cNvPr id="15" name="Graphic 14" descr="Race Car with solid fill">
            <a:extLst>
              <a:ext uri="{FF2B5EF4-FFF2-40B4-BE49-F238E27FC236}">
                <a16:creationId xmlns:a16="http://schemas.microsoft.com/office/drawing/2014/main" id="{40B7F453-F586-6296-51AA-63D309323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8290" y="2763982"/>
            <a:ext cx="914400" cy="9144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F960BF1-0C6A-8070-5B72-432FB53D5910}"/>
              </a:ext>
            </a:extLst>
          </p:cNvPr>
          <p:cNvCxnSpPr>
            <a:endCxn id="15" idx="1"/>
          </p:cNvCxnSpPr>
          <p:nvPr/>
        </p:nvCxnSpPr>
        <p:spPr>
          <a:xfrm>
            <a:off x="1305098" y="3221182"/>
            <a:ext cx="85731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" name="Graphic 17" descr="Race Car with solid fill">
            <a:extLst>
              <a:ext uri="{FF2B5EF4-FFF2-40B4-BE49-F238E27FC236}">
                <a16:creationId xmlns:a16="http://schemas.microsoft.com/office/drawing/2014/main" id="{EA1C6A7B-C37F-BAA7-7809-D071AB07D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8290" y="4533862"/>
            <a:ext cx="914400" cy="91440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7D283B-B9D0-2584-0EB9-F41E21782A96}"/>
              </a:ext>
            </a:extLst>
          </p:cNvPr>
          <p:cNvCxnSpPr>
            <a:endCxn id="18" idx="1"/>
          </p:cNvCxnSpPr>
          <p:nvPr/>
        </p:nvCxnSpPr>
        <p:spPr>
          <a:xfrm>
            <a:off x="1305098" y="4991062"/>
            <a:ext cx="85731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Graphic 19" descr="Race Car with solid fill">
            <a:extLst>
              <a:ext uri="{FF2B5EF4-FFF2-40B4-BE49-F238E27FC236}">
                <a16:creationId xmlns:a16="http://schemas.microsoft.com/office/drawing/2014/main" id="{AB14D03C-513F-D423-D721-DBEBFEB842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8290" y="4932144"/>
            <a:ext cx="914400" cy="9144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A0EFF6E-B7EB-2B34-726F-ECC0BA6BBB24}"/>
              </a:ext>
            </a:extLst>
          </p:cNvPr>
          <p:cNvCxnSpPr>
            <a:endCxn id="20" idx="1"/>
          </p:cNvCxnSpPr>
          <p:nvPr/>
        </p:nvCxnSpPr>
        <p:spPr>
          <a:xfrm>
            <a:off x="1305098" y="5389344"/>
            <a:ext cx="85731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Graphic 21" descr="Race Car with solid fill">
            <a:extLst>
              <a:ext uri="{FF2B5EF4-FFF2-40B4-BE49-F238E27FC236}">
                <a16:creationId xmlns:a16="http://schemas.microsoft.com/office/drawing/2014/main" id="{BE918517-4445-4B12-C7B6-4D2DF4AB0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6211" y="5330426"/>
            <a:ext cx="914400" cy="91440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E94B5D6-463C-99FA-420F-5135E02593E0}"/>
              </a:ext>
            </a:extLst>
          </p:cNvPr>
          <p:cNvCxnSpPr>
            <a:endCxn id="22" idx="1"/>
          </p:cNvCxnSpPr>
          <p:nvPr/>
        </p:nvCxnSpPr>
        <p:spPr>
          <a:xfrm>
            <a:off x="1303019" y="5787626"/>
            <a:ext cx="85731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875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9E874-EE45-299F-85CC-99481FD00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 3 – Decent Projects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6360889-9203-A76F-1B47-A7E21B2C4534}"/>
              </a:ext>
            </a:extLst>
          </p:cNvPr>
          <p:cNvSpPr/>
          <p:nvPr/>
        </p:nvSpPr>
        <p:spPr>
          <a:xfrm>
            <a:off x="838200" y="2016165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48F98F9-5F3B-3634-D95A-72B90EA71625}"/>
              </a:ext>
            </a:extLst>
          </p:cNvPr>
          <p:cNvSpPr/>
          <p:nvPr/>
        </p:nvSpPr>
        <p:spPr>
          <a:xfrm>
            <a:off x="2771602" y="2016165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2D93646-E3E2-C6DB-3B43-B9CB16DDFEA7}"/>
              </a:ext>
            </a:extLst>
          </p:cNvPr>
          <p:cNvSpPr/>
          <p:nvPr/>
        </p:nvSpPr>
        <p:spPr>
          <a:xfrm>
            <a:off x="4705004" y="2016165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540E6B-DDB7-FE63-EA57-7DB6C8CE218B}"/>
              </a:ext>
            </a:extLst>
          </p:cNvPr>
          <p:cNvSpPr/>
          <p:nvPr/>
        </p:nvSpPr>
        <p:spPr>
          <a:xfrm>
            <a:off x="6638406" y="2016165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B78C32-8004-701F-0CD5-2580D1EC0A46}"/>
              </a:ext>
            </a:extLst>
          </p:cNvPr>
          <p:cNvSpPr/>
          <p:nvPr/>
        </p:nvSpPr>
        <p:spPr>
          <a:xfrm>
            <a:off x="8571807" y="2016165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562D64A-37CB-17ED-B20D-294AB5604CF6}"/>
              </a:ext>
            </a:extLst>
          </p:cNvPr>
          <p:cNvSpPr/>
          <p:nvPr/>
        </p:nvSpPr>
        <p:spPr>
          <a:xfrm>
            <a:off x="838200" y="3487191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6</a:t>
            </a:r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8EF8BB82-CE6E-3C3E-D0F9-D73313051ECE}"/>
              </a:ext>
            </a:extLst>
          </p:cNvPr>
          <p:cNvSpPr/>
          <p:nvPr/>
        </p:nvSpPr>
        <p:spPr>
          <a:xfrm>
            <a:off x="2771602" y="3487191"/>
            <a:ext cx="1080000" cy="1080000"/>
          </a:xfrm>
          <a:prstGeom prst="star5">
            <a:avLst>
              <a:gd name="adj" fmla="val 29541"/>
              <a:gd name="hf" fmla="val 105146"/>
              <a:gd name="vf" fmla="val 11055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E1DABEA-C92F-3B5F-BCBD-E341C2A05776}"/>
              </a:ext>
            </a:extLst>
          </p:cNvPr>
          <p:cNvSpPr/>
          <p:nvPr/>
        </p:nvSpPr>
        <p:spPr>
          <a:xfrm>
            <a:off x="4705004" y="3487191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B52B38C-6964-E5B5-89E2-F6BFC536BEFB}"/>
              </a:ext>
            </a:extLst>
          </p:cNvPr>
          <p:cNvSpPr/>
          <p:nvPr/>
        </p:nvSpPr>
        <p:spPr>
          <a:xfrm>
            <a:off x="6638406" y="3487191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DC35EDB-0980-8991-D500-1371C9A2B50C}"/>
              </a:ext>
            </a:extLst>
          </p:cNvPr>
          <p:cNvSpPr/>
          <p:nvPr/>
        </p:nvSpPr>
        <p:spPr>
          <a:xfrm>
            <a:off x="8571807" y="3487191"/>
            <a:ext cx="1080000" cy="10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Idea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7594F4-CB97-67F8-A043-9EA46A0DBC85}"/>
              </a:ext>
            </a:extLst>
          </p:cNvPr>
          <p:cNvSpPr txBox="1"/>
          <p:nvPr/>
        </p:nvSpPr>
        <p:spPr>
          <a:xfrm>
            <a:off x="838200" y="5846544"/>
            <a:ext cx="8813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Idea 7 is reached and completed to a decent standard. </a:t>
            </a:r>
          </a:p>
          <a:p>
            <a:r>
              <a:rPr lang="en-GB" dirty="0"/>
              <a:t>Stakeholders have confidence in outputs and value is realised.</a:t>
            </a:r>
          </a:p>
        </p:txBody>
      </p:sp>
    </p:spTree>
    <p:extLst>
      <p:ext uri="{BB962C8B-B14F-4D97-AF65-F5344CB8AC3E}">
        <p14:creationId xmlns:p14="http://schemas.microsoft.com/office/powerpoint/2010/main" val="1757859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BF60-9970-BCE1-4522-21F5B9168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C88D2-FC07-CA79-2EE2-C77755652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Balance</a:t>
            </a:r>
          </a:p>
          <a:p>
            <a:r>
              <a:rPr lang="en-GB" dirty="0"/>
              <a:t>Cover enough ground to give ideas a go.</a:t>
            </a:r>
          </a:p>
          <a:p>
            <a:r>
              <a:rPr lang="en-GB" dirty="0"/>
              <a:t>Still executing ideas to a good enough standard that when we get there the idea is realised.</a:t>
            </a:r>
          </a:p>
        </p:txBody>
      </p:sp>
    </p:spTree>
    <p:extLst>
      <p:ext uri="{BB962C8B-B14F-4D97-AF65-F5344CB8AC3E}">
        <p14:creationId xmlns:p14="http://schemas.microsoft.com/office/powerpoint/2010/main" val="2217459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070D7-FD5C-F790-401D-BB299080B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can we deliver value quicker?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AEEAA-1E2C-18F8-0539-9F787FAFF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1900" dirty="0"/>
              <a:t>Plan and don’t just jump in</a:t>
            </a:r>
          </a:p>
          <a:p>
            <a:r>
              <a:rPr lang="en-GB" sz="1900" dirty="0"/>
              <a:t>Anticipate issues and try to mitigate</a:t>
            </a:r>
          </a:p>
          <a:p>
            <a:endParaRPr lang="en-GB" sz="1900" dirty="0"/>
          </a:p>
          <a:p>
            <a:pPr marL="0" indent="0">
              <a:buNone/>
            </a:pPr>
            <a:r>
              <a:rPr lang="en-GB" sz="1900" dirty="0"/>
              <a:t>Research</a:t>
            </a:r>
          </a:p>
          <a:p>
            <a:r>
              <a:rPr lang="en-GB" sz="1900" dirty="0"/>
              <a:t>Use previous knowledge and processes – don’t need to come up with everything from scratch</a:t>
            </a:r>
          </a:p>
          <a:p>
            <a:r>
              <a:rPr lang="en-GB" sz="1900" dirty="0"/>
              <a:t>Ask others what approach they would use</a:t>
            </a:r>
          </a:p>
          <a:p>
            <a:endParaRPr lang="en-GB" sz="1900" dirty="0"/>
          </a:p>
          <a:p>
            <a:pPr marL="0" indent="0">
              <a:buNone/>
            </a:pPr>
            <a:r>
              <a:rPr lang="en-GB" sz="1900" dirty="0"/>
              <a:t>Reviews</a:t>
            </a:r>
          </a:p>
          <a:p>
            <a:r>
              <a:rPr lang="en-GB" sz="1900" dirty="0"/>
              <a:t>Others in the team can find issues rather than the stakeholders</a:t>
            </a:r>
          </a:p>
          <a:p>
            <a:endParaRPr lang="en-GB" sz="1900" dirty="0"/>
          </a:p>
          <a:p>
            <a:pPr marL="0" indent="0">
              <a:buNone/>
            </a:pPr>
            <a:r>
              <a:rPr lang="en-GB" sz="1900" dirty="0"/>
              <a:t>Don’t try and be too clever</a:t>
            </a:r>
          </a:p>
          <a:p>
            <a:r>
              <a:rPr lang="en-GB" sz="1900" dirty="0"/>
              <a:t>Technical Efficiency vs Human Efficiency</a:t>
            </a:r>
          </a:p>
          <a:p>
            <a:r>
              <a:rPr lang="en-GB" sz="1900" dirty="0"/>
              <a:t>Using </a:t>
            </a:r>
            <a:r>
              <a:rPr lang="en-GB" sz="1900" dirty="0" err="1"/>
              <a:t>GenAI</a:t>
            </a:r>
            <a:r>
              <a:rPr lang="en-GB" sz="1900" dirty="0"/>
              <a:t> to Write Code</a:t>
            </a:r>
          </a:p>
          <a:p>
            <a:pPr lvl="1"/>
            <a:endParaRPr lang="en-GB" sz="1800" dirty="0"/>
          </a:p>
          <a:p>
            <a:pPr lvl="1"/>
            <a:endParaRPr lang="en-GB" sz="1800" dirty="0"/>
          </a:p>
          <a:p>
            <a:pPr lvl="1"/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765046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17620</TotalTime>
  <Words>481</Words>
  <Application>Microsoft Office PowerPoint</Application>
  <PresentationFormat>Widescreen</PresentationFormat>
  <Paragraphs>117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Commercial Terms</vt:lpstr>
      <vt:lpstr>Use cases</vt:lpstr>
      <vt:lpstr>Commercial Value of Projects</vt:lpstr>
      <vt:lpstr>Not all projects have the same value</vt:lpstr>
      <vt:lpstr>Approach 1 – Near Perfect Projects</vt:lpstr>
      <vt:lpstr>Approach 2 – Rushed Projects</vt:lpstr>
      <vt:lpstr>Approach 3 – Decent Projects</vt:lpstr>
      <vt:lpstr>Takeaways</vt:lpstr>
      <vt:lpstr>How can we deliver value quicker?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Commercial Value of Dashboards</dc:title>
  <dc:creator>Jack Sanderson</dc:creator>
  <cp:lastModifiedBy>Jack Sanderson</cp:lastModifiedBy>
  <cp:revision>12</cp:revision>
  <dcterms:created xsi:type="dcterms:W3CDTF">2024-09-20T23:07:54Z</dcterms:created>
  <dcterms:modified xsi:type="dcterms:W3CDTF">2024-12-12T15:03:14Z</dcterms:modified>
</cp:coreProperties>
</file>